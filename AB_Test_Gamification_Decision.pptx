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65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0239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3D7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A/B-ТЕСТ ГЕЙМИФИКАЦИИ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9659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Система достижений за регулярное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решение задач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Решение о раскатке  ·  5 980 пользователей  ·  3 недели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749040"/>
            <a:ext cx="2011680" cy="54864"/>
          </a:xfrm>
          <a:prstGeom prst="rect">
            <a:avLst/>
          </a:prstGeom>
          <a:solidFill>
            <a:srgbClr val="3D7EA6"/>
          </a:solidFill>
          <a:ln/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Контекст эксперимента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1097280" cy="45720"/>
          </a:xfrm>
          <a:prstGeom prst="rect">
            <a:avLst/>
          </a:prstGeom>
          <a:solidFill>
            <a:srgbClr val="3D7EA6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1554480"/>
          </a:xfrm>
          <a:prstGeom prst="roundRect">
            <a:avLst>
              <a:gd name="adj" fmla="val 5882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685800" y="11887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7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Гипотеза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50876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Геймификация статистически значимо повышает Completion Rate и Retention (D7, D14)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005840"/>
            <a:ext cx="3931920" cy="1554480"/>
          </a:xfrm>
          <a:prstGeom prst="roundRect">
            <a:avLst>
              <a:gd name="adj" fmla="val 5882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4892040" y="11887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7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Дизайн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92040" y="150876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— контроль (старый UI)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— тест (система достижений)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Длительность: 3 недели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3931920" cy="1554480"/>
          </a:xfrm>
          <a:prstGeom prst="roundRect">
            <a:avLst>
              <a:gd name="adj" fmla="val 5882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685800" y="29260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7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Выборка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324612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5 980 пользователей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A: 2 992  ·  B: 2 988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SRM: нет (p = 0.96)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63440" y="2743200"/>
            <a:ext cx="3931920" cy="1554480"/>
          </a:xfrm>
          <a:prstGeom prst="roundRect">
            <a:avLst>
              <a:gd name="adj" fmla="val 5882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4892040" y="29260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7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Метрики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324612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D7 / D14 Retention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Completion ≥25% / ≥50%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Число ДЗ </a:t>
            </a:r>
            <a:r>
              <a:rPr lang="ru-RU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r>
              <a:rPr lang="ru-RU" sz="130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доля от всех)</a:t>
            </a: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TTV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A/B-тест геймификации  ·  04.05–24.05.2026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7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Общий эффект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530352"/>
            <a:ext cx="1097280" cy="45720"/>
          </a:xfrm>
          <a:prstGeom prst="rect">
            <a:avLst/>
          </a:prstGeom>
          <a:solidFill>
            <a:srgbClr val="3D7EA6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Shape 2"/>
          <p:cNvSpPr/>
          <p:nvPr/>
        </p:nvSpPr>
        <p:spPr>
          <a:xfrm>
            <a:off x="365760" y="639526"/>
            <a:ext cx="2057400" cy="1051560"/>
          </a:xfrm>
          <a:prstGeom prst="roundRect">
            <a:avLst>
              <a:gd name="adj" fmla="val 6957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457200" y="712678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D7 Retention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959566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+5.3 п.п.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325326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73% → 78%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0320" y="639526"/>
            <a:ext cx="2057400" cy="1051560"/>
          </a:xfrm>
          <a:prstGeom prst="roundRect">
            <a:avLst>
              <a:gd name="adj" fmla="val 6957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2651760" y="712678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D14 Retention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651760" y="959566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+7.4 п.п.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651760" y="1325326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29% → 36%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639526"/>
            <a:ext cx="2057400" cy="1051560"/>
          </a:xfrm>
          <a:prstGeom prst="roundRect">
            <a:avLst>
              <a:gd name="adj" fmla="val 6957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4846320" y="712678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 ≥25%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46320" y="959566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+27.5 п.п.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846320" y="1325326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31% → 59%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49440" y="639526"/>
            <a:ext cx="2057400" cy="1051560"/>
          </a:xfrm>
          <a:prstGeom prst="roundRect">
            <a:avLst>
              <a:gd name="adj" fmla="val 6957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Text 15"/>
          <p:cNvSpPr/>
          <p:nvPr/>
        </p:nvSpPr>
        <p:spPr>
          <a:xfrm>
            <a:off x="7040880" y="712678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ДЗ выполнено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040880" y="959566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+1.53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040880" y="1325326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 → 5.1</a:t>
            </a:r>
            <a:endParaRPr lang="en-US" sz="1100" dirty="0"/>
          </a:p>
        </p:txBody>
      </p:sp>
      <p:pic>
        <p:nvPicPr>
          <p:cNvPr id="20" name="Image 0" descr="/home/workdir/attachments/figures/overall_effec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721" y="1709374"/>
            <a:ext cx="7733608" cy="3164378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A/B-тест геймификации  ·  04.05–24.05.2026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7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Эффект по сегментам классов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475488"/>
            <a:ext cx="1097280" cy="45720"/>
          </a:xfrm>
          <a:prstGeom prst="rect">
            <a:avLst/>
          </a:prstGeom>
          <a:solidFill>
            <a:srgbClr val="3D7EA6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Гетерогенность подтверждена: interaction group × grade, p &lt; 10⁻⁷</a:t>
            </a:r>
            <a:endParaRPr lang="en-US" sz="1200" dirty="0"/>
          </a:p>
        </p:txBody>
      </p:sp>
      <p:pic>
        <p:nvPicPr>
          <p:cNvPr id="5" name="Image 0" descr="/home/workdir/attachments/figures/binary_effect_by_seg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868680"/>
            <a:ext cx="8778240" cy="2788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3794760"/>
            <a:ext cx="2743200" cy="411480"/>
          </a:xfrm>
          <a:prstGeom prst="roundRect">
            <a:avLst>
              <a:gd name="adj" fmla="val 13333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Shape 4"/>
          <p:cNvSpPr/>
          <p:nvPr/>
        </p:nvSpPr>
        <p:spPr>
          <a:xfrm>
            <a:off x="566928" y="3904488"/>
            <a:ext cx="164592" cy="182880"/>
          </a:xfrm>
          <a:prstGeom prst="rect">
            <a:avLst/>
          </a:prstGeom>
          <a:solidFill>
            <a:srgbClr val="4C72B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8" name="Text 5"/>
          <p:cNvSpPr/>
          <p:nvPr/>
        </p:nvSpPr>
        <p:spPr>
          <a:xfrm>
            <a:off x="822960" y="38404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5–7: сильный рост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37560" y="3794760"/>
            <a:ext cx="2743200" cy="411480"/>
          </a:xfrm>
          <a:prstGeom prst="roundRect">
            <a:avLst>
              <a:gd name="adj" fmla="val 13333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Shape 7"/>
          <p:cNvSpPr/>
          <p:nvPr/>
        </p:nvSpPr>
        <p:spPr>
          <a:xfrm>
            <a:off x="3447288" y="3904488"/>
            <a:ext cx="164592" cy="182880"/>
          </a:xfrm>
          <a:prstGeom prst="rect">
            <a:avLst/>
          </a:prstGeom>
          <a:solidFill>
            <a:srgbClr val="55A86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8"/>
          <p:cNvSpPr/>
          <p:nvPr/>
        </p:nvSpPr>
        <p:spPr>
          <a:xfrm>
            <a:off x="3703320" y="38404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8–9: рост глубины, удержание на границе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217920" y="3794760"/>
            <a:ext cx="2743200" cy="411480"/>
          </a:xfrm>
          <a:prstGeom prst="roundRect">
            <a:avLst>
              <a:gd name="adj" fmla="val 13333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Shape 10"/>
          <p:cNvSpPr/>
          <p:nvPr/>
        </p:nvSpPr>
        <p:spPr>
          <a:xfrm>
            <a:off x="6327648" y="3904488"/>
            <a:ext cx="164592" cy="182880"/>
          </a:xfrm>
          <a:prstGeom prst="rect">
            <a:avLst/>
          </a:prstGeom>
          <a:solidFill>
            <a:srgbClr val="C44E5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4" name="Text 11"/>
          <p:cNvSpPr/>
          <p:nvPr/>
        </p:nvSpPr>
        <p:spPr>
          <a:xfrm>
            <a:off x="6583680" y="38404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10–11: падение прохождения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A/B-тест геймификации  ·  04.05–24.05.2026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7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Глубина прохождения и Time-to-Value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475488"/>
            <a:ext cx="1097280" cy="45720"/>
          </a:xfrm>
          <a:prstGeom prst="rect">
            <a:avLst/>
          </a:prstGeom>
          <a:solidFill>
            <a:srgbClr val="3D7EA6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/home/workdir/attachments/figures/continuous_effect_by_seg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40080"/>
            <a:ext cx="8595360" cy="2926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3749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TTV: медиана падает с ~48 ч до ~23.5 ч overall; в 5–7 классах — с ~47 ч до ~40 мин (−98%).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A/B-тест геймификации  ·  04.05–24.05.2026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7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Решение о раскатке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594360"/>
            <a:ext cx="1097280" cy="45720"/>
          </a:xfrm>
          <a:prstGeom prst="rect">
            <a:avLst/>
          </a:prstGeom>
          <a:solidFill>
            <a:srgbClr val="3D7EA6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2788920" cy="3611880"/>
          </a:xfrm>
          <a:prstGeom prst="roundRect">
            <a:avLst>
              <a:gd name="adj" fmla="val 3279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502920" y="1051560"/>
            <a:ext cx="2423160" cy="365760"/>
          </a:xfrm>
          <a:prstGeom prst="roundRect">
            <a:avLst>
              <a:gd name="adj" fmla="val 15000"/>
            </a:avLst>
          </a:prstGeom>
          <a:solidFill>
            <a:srgbClr val="2D6A4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502920" y="10515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РАСКАТЫВАТЬ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55448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5–7 классы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0574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D7 +11.5 п.п., D14 +16.2 п.п.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5146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Comp ≥25% +54.8 п.п.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9718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ДЗ +3.07, TTV −98%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4290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Все эффекты &gt; MDE, p ≈ 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46120" y="868680"/>
            <a:ext cx="2788920" cy="3611880"/>
          </a:xfrm>
          <a:prstGeom prst="roundRect">
            <a:avLst>
              <a:gd name="adj" fmla="val 3279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Shape 11"/>
          <p:cNvSpPr/>
          <p:nvPr/>
        </p:nvSpPr>
        <p:spPr>
          <a:xfrm>
            <a:off x="3429000" y="1051560"/>
            <a:ext cx="2423160" cy="365760"/>
          </a:xfrm>
          <a:prstGeom prst="roundRect">
            <a:avLst>
              <a:gd name="adj" fmla="val 15000"/>
            </a:avLst>
          </a:prstGeom>
          <a:solidFill>
            <a:srgbClr val="E07A3D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3429000" y="10515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 МОНИТОРИНГОМ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29000" y="155448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8–9 классы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474720" y="20574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Comp ≥25% +28.5 п.п. (сильно)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74720" y="25146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D7 +5.3, D14 +5.5 — ниже MDE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74720" y="29718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После Holm p ≈ 0.07–0.08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74720" y="34290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Раскатка + контроль retention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72200" y="868680"/>
            <a:ext cx="2788920" cy="3611880"/>
          </a:xfrm>
          <a:prstGeom prst="roundRect">
            <a:avLst>
              <a:gd name="adj" fmla="val 3279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1" name="Shape 19"/>
          <p:cNvSpPr/>
          <p:nvPr/>
        </p:nvSpPr>
        <p:spPr>
          <a:xfrm>
            <a:off x="6355080" y="1051560"/>
            <a:ext cx="2423160" cy="365760"/>
          </a:xfrm>
          <a:prstGeom prst="roundRect">
            <a:avLst>
              <a:gd name="adj" fmla="val 15000"/>
            </a:avLst>
          </a:prstGeom>
          <a:solidFill>
            <a:srgbClr val="9B2226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2" name="Text 20"/>
          <p:cNvSpPr/>
          <p:nvPr/>
        </p:nvSpPr>
        <p:spPr>
          <a:xfrm>
            <a:off x="6355080" y="10515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РАСКАТЫВАТЬ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55080" y="155448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10–11 классы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00800" y="20574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Comp ≥25% −15.8 п.п. (вред)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0" y="25146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ДЗ −18%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0" y="29718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Retention −4 п.п. (не значимо)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0" y="34290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Оставить старый UI / адаптировать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A/B-тест геймификации  ·  04.05–24.05.2026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 и ограничения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640080"/>
            <a:ext cx="1097280" cy="45720"/>
          </a:xfrm>
          <a:prstGeom prst="rect">
            <a:avLst/>
          </a:prstGeom>
          <a:solidFill>
            <a:srgbClr val="3D7EA6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685800" y="1097280"/>
            <a:ext cx="7772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раскатывать на 100% аудитории.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Сегментированный rollout: 5–7 → да; 8–9 → с мониторингом; 10–11 → нет.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514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Ограничения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Число ДЗ в курсе оценено по данным (max внутри grade) — пороги ≥25%/≥50% зависят от этого допущения.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3832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«Полное» прохождение модуля в данных не наблюдается.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Сегменты 5–7 / 8–9 / 10–11 выбраны после просмотра результатов по классам (анализ постфактум).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A/B-тест геймификации  ·  04.05–24.05.2026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491</Words>
  <Application>Microsoft Office PowerPoint</Application>
  <PresentationFormat>Экран (16:9)</PresentationFormat>
  <Paragraphs>84</Paragraphs>
  <Slides>7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9" baseType="lpstr"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A/B-тест геймификации — решение о раскатке</dc:title>
  <dc:subject>Результаты эксперимента 04.05–24.05.2026</dc:subject>
  <dc:creator>Product Analytics</dc:creator>
  <cp:lastModifiedBy>vasilijkrukovskij2015@gmail.com</cp:lastModifiedBy>
  <cp:revision>3</cp:revision>
  <dcterms:created xsi:type="dcterms:W3CDTF">2026-10-06T00:13:54Z</dcterms:created>
  <dcterms:modified xsi:type="dcterms:W3CDTF">2026-10-06T00:25:59Z</dcterms:modified>
</cp:coreProperties>
</file>