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221774-CD11-4F35-A370-5A1F68B4C246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0CBD7F9-AA52-4C73-882B-088C5F1437EF}">
      <dgm:prSet/>
      <dgm:spPr/>
      <dgm:t>
        <a:bodyPr/>
        <a:lstStyle/>
        <a:p>
          <a:r>
            <a:rPr lang="en-US" b="1"/>
            <a:t>A/B-тест геймификации</a:t>
          </a:r>
          <a:endParaRPr lang="en-US"/>
        </a:p>
      </dgm:t>
    </dgm:pt>
    <dgm:pt modelId="{BCFA2BE5-0352-4A1A-B5B7-5710A3D9FB81}" type="parTrans" cxnId="{CAB9F326-3809-4694-9632-C91637C58F69}">
      <dgm:prSet/>
      <dgm:spPr/>
      <dgm:t>
        <a:bodyPr/>
        <a:lstStyle/>
        <a:p>
          <a:endParaRPr lang="en-US"/>
        </a:p>
      </dgm:t>
    </dgm:pt>
    <dgm:pt modelId="{96C6EE2E-2429-4310-8956-44E49C15041D}" type="sibTrans" cxnId="{CAB9F326-3809-4694-9632-C91637C58F69}">
      <dgm:prSet/>
      <dgm:spPr/>
      <dgm:t>
        <a:bodyPr/>
        <a:lstStyle/>
        <a:p>
          <a:endParaRPr lang="en-US"/>
        </a:p>
      </dgm:t>
    </dgm:pt>
    <dgm:pt modelId="{5EF3E152-307F-4CE5-8280-F09BDF890E69}">
      <dgm:prSet/>
      <dgm:spPr/>
      <dgm:t>
        <a:bodyPr/>
        <a:lstStyle/>
        <a:p>
          <a:r>
            <a:rPr lang="en-US"/>
            <a:t>Влияние системы достижений на удержание и прохождение курса</a:t>
          </a:r>
        </a:p>
      </dgm:t>
    </dgm:pt>
    <dgm:pt modelId="{1CF6A8AE-D2D2-4345-8694-28CCBA5815E5}" type="parTrans" cxnId="{9DFEE8CD-ACD6-4CD9-B9B7-2E3935BD5F97}">
      <dgm:prSet/>
      <dgm:spPr/>
      <dgm:t>
        <a:bodyPr/>
        <a:lstStyle/>
        <a:p>
          <a:endParaRPr lang="en-US"/>
        </a:p>
      </dgm:t>
    </dgm:pt>
    <dgm:pt modelId="{063B481B-D501-4E1C-B47D-F9E6975B178E}" type="sibTrans" cxnId="{9DFEE8CD-ACD6-4CD9-B9B7-2E3935BD5F97}">
      <dgm:prSet/>
      <dgm:spPr/>
      <dgm:t>
        <a:bodyPr/>
        <a:lstStyle/>
        <a:p>
          <a:endParaRPr lang="en-US"/>
        </a:p>
      </dgm:t>
    </dgm:pt>
    <dgm:pt modelId="{9220CDA1-6DB4-4446-B8D3-913EB11AE1B4}" type="pres">
      <dgm:prSet presAssocID="{53221774-CD11-4F35-A370-5A1F68B4C246}" presName="Name0" presStyleCnt="0">
        <dgm:presLayoutVars>
          <dgm:dir/>
          <dgm:animLvl val="lvl"/>
          <dgm:resizeHandles val="exact"/>
        </dgm:presLayoutVars>
      </dgm:prSet>
      <dgm:spPr/>
    </dgm:pt>
    <dgm:pt modelId="{F3EEE5FF-951C-4FA8-B54B-43E83ACDB79C}" type="pres">
      <dgm:prSet presAssocID="{C0CBD7F9-AA52-4C73-882B-088C5F1437EF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FB9B5642-57EF-4AF3-9608-F2F33BBD84EF}" type="pres">
      <dgm:prSet presAssocID="{96C6EE2E-2429-4310-8956-44E49C15041D}" presName="parTxOnlySpace" presStyleCnt="0"/>
      <dgm:spPr/>
    </dgm:pt>
    <dgm:pt modelId="{224D4609-CDE6-475B-960C-6EB258BC8217}" type="pres">
      <dgm:prSet presAssocID="{5EF3E152-307F-4CE5-8280-F09BDF890E69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098ADA14-E6F7-4696-AFF6-7D4C686E72EC}" type="presOf" srcId="{5EF3E152-307F-4CE5-8280-F09BDF890E69}" destId="{224D4609-CDE6-475B-960C-6EB258BC8217}" srcOrd="0" destOrd="0" presId="urn:microsoft.com/office/officeart/2005/8/layout/chevron1"/>
    <dgm:cxn modelId="{CAB9F326-3809-4694-9632-C91637C58F69}" srcId="{53221774-CD11-4F35-A370-5A1F68B4C246}" destId="{C0CBD7F9-AA52-4C73-882B-088C5F1437EF}" srcOrd="0" destOrd="0" parTransId="{BCFA2BE5-0352-4A1A-B5B7-5710A3D9FB81}" sibTransId="{96C6EE2E-2429-4310-8956-44E49C15041D}"/>
    <dgm:cxn modelId="{15C37634-EAB7-4CF4-B031-FCA94B5865C6}" type="presOf" srcId="{C0CBD7F9-AA52-4C73-882B-088C5F1437EF}" destId="{F3EEE5FF-951C-4FA8-B54B-43E83ACDB79C}" srcOrd="0" destOrd="0" presId="urn:microsoft.com/office/officeart/2005/8/layout/chevron1"/>
    <dgm:cxn modelId="{4433EE4F-5F9A-4207-8AB3-3A9C5999656B}" type="presOf" srcId="{53221774-CD11-4F35-A370-5A1F68B4C246}" destId="{9220CDA1-6DB4-4446-B8D3-913EB11AE1B4}" srcOrd="0" destOrd="0" presId="urn:microsoft.com/office/officeart/2005/8/layout/chevron1"/>
    <dgm:cxn modelId="{9DFEE8CD-ACD6-4CD9-B9B7-2E3935BD5F97}" srcId="{53221774-CD11-4F35-A370-5A1F68B4C246}" destId="{5EF3E152-307F-4CE5-8280-F09BDF890E69}" srcOrd="1" destOrd="0" parTransId="{1CF6A8AE-D2D2-4345-8694-28CCBA5815E5}" sibTransId="{063B481B-D501-4E1C-B47D-F9E6975B178E}"/>
    <dgm:cxn modelId="{48C23DCF-8923-4530-BDEB-E917F1A65AA0}" type="presParOf" srcId="{9220CDA1-6DB4-4446-B8D3-913EB11AE1B4}" destId="{F3EEE5FF-951C-4FA8-B54B-43E83ACDB79C}" srcOrd="0" destOrd="0" presId="urn:microsoft.com/office/officeart/2005/8/layout/chevron1"/>
    <dgm:cxn modelId="{0B452617-D3A9-48D7-8AC9-4E814A705649}" type="presParOf" srcId="{9220CDA1-6DB4-4446-B8D3-913EB11AE1B4}" destId="{FB9B5642-57EF-4AF3-9608-F2F33BBD84EF}" srcOrd="1" destOrd="0" presId="urn:microsoft.com/office/officeart/2005/8/layout/chevron1"/>
    <dgm:cxn modelId="{C52D9AE2-6149-4051-8EFA-AAFA25A40391}" type="presParOf" srcId="{9220CDA1-6DB4-4446-B8D3-913EB11AE1B4}" destId="{224D4609-CDE6-475B-960C-6EB258BC8217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EEE5FF-951C-4FA8-B54B-43E83ACDB79C}">
      <dsp:nvSpPr>
        <dsp:cNvPr id="0" name=""/>
        <dsp:cNvSpPr/>
      </dsp:nvSpPr>
      <dsp:spPr>
        <a:xfrm>
          <a:off x="9483" y="0"/>
          <a:ext cx="5668922" cy="18288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016" tIns="41339" rIns="41339" bIns="41339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A/B-тест геймификации</a:t>
          </a:r>
          <a:endParaRPr lang="en-US" sz="3100" kern="1200"/>
        </a:p>
      </dsp:txBody>
      <dsp:txXfrm>
        <a:off x="923883" y="0"/>
        <a:ext cx="3840122" cy="1828800"/>
      </dsp:txXfrm>
    </dsp:sp>
    <dsp:sp modelId="{224D4609-CDE6-475B-960C-6EB258BC8217}">
      <dsp:nvSpPr>
        <dsp:cNvPr id="0" name=""/>
        <dsp:cNvSpPr/>
      </dsp:nvSpPr>
      <dsp:spPr>
        <a:xfrm>
          <a:off x="5111513" y="0"/>
          <a:ext cx="5668922" cy="18288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016" tIns="41339" rIns="41339" bIns="41339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Влияние системы достижений на удержание и прохождение курса</a:t>
          </a:r>
        </a:p>
      </dsp:txBody>
      <dsp:txXfrm>
        <a:off x="6025913" y="0"/>
        <a:ext cx="3840122" cy="1828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379476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3904488"/>
            <a:ext cx="2066543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5 980</a:t>
            </a:r>
          </a:p>
          <a:p>
            <a:pPr algn="ctr">
              <a:defRPr sz="1100">
                <a:solidFill>
                  <a:srgbClr val="5C6370"/>
                </a:solidFill>
              </a:defRPr>
            </a:pPr>
            <a:r>
              <a:t>пользователей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79476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10128" y="3904488"/>
            <a:ext cx="2066543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3 недели</a:t>
            </a:r>
          </a:p>
          <a:p>
            <a:pPr algn="ctr">
              <a:defRPr sz="1100">
                <a:solidFill>
                  <a:srgbClr val="5C6370"/>
                </a:solidFill>
              </a:defRPr>
            </a:pPr>
            <a:r>
              <a:t>эксперимент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379476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24728" y="3904488"/>
            <a:ext cx="2066543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+7.4 п.п.</a:t>
            </a:r>
          </a:p>
          <a:p>
            <a:pPr algn="ctr">
              <a:defRPr sz="1100">
                <a:solidFill>
                  <a:srgbClr val="5C6370"/>
                </a:solidFill>
              </a:defRPr>
            </a:pPr>
            <a:r>
              <a:t>D14 Retention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9476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39327" y="3904488"/>
            <a:ext cx="2066543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+27.5 п.п.</a:t>
            </a:r>
          </a:p>
          <a:p>
            <a:pPr algn="ctr">
              <a:defRPr sz="1100">
                <a:solidFill>
                  <a:srgbClr val="5C6370"/>
                </a:solidFill>
              </a:defRPr>
            </a:pPr>
            <a:r>
              <a:t>Completion ≥25%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370"/>
                </a:solidFill>
              </a:defRPr>
            </a:pPr>
            <a:r>
              <a:t>1</a:t>
            </a:r>
          </a:p>
        </p:txBody>
      </p:sp>
      <p:graphicFrame>
        <p:nvGraphicFramePr>
          <p:cNvPr id="14" name="TextBox 2">
            <a:extLst>
              <a:ext uri="{FF2B5EF4-FFF2-40B4-BE49-F238E27FC236}">
                <a16:creationId xmlns:a16="http://schemas.microsoft.com/office/drawing/2014/main" id="{DA4E8506-7BF1-0B42-7ADF-F4093D36E3E8}"/>
              </a:ext>
            </a:extLst>
          </p:cNvPr>
          <p:cNvGraphicFramePr/>
          <p:nvPr/>
        </p:nvGraphicFramePr>
        <p:xfrm>
          <a:off x="685800" y="1097280"/>
          <a:ext cx="10789920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32A"/>
                </a:solidFill>
              </a:defRPr>
            </a:pPr>
            <a:r>
              <a:t>1. Эксперимент и аналитический вопрос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32A"/>
                </a:solidFill>
              </a:defRPr>
            </a:pPr>
            <a:r>
              <a:t>Группа A — контроль: старый интерфейс.</a:t>
            </a:r>
          </a:p>
          <a:p>
            <a:pPr>
              <a:spcAft>
                <a:spcPts val="1000"/>
              </a:spcAft>
              <a:defRPr sz="1900">
                <a:solidFill>
                  <a:srgbClr val="1F232A"/>
                </a:solidFill>
              </a:defRPr>
            </a:pPr>
            <a:r>
              <a:t>Группа B — тест: интерфейс с системой достижений за регулярное решение задач.</a:t>
            </a:r>
          </a:p>
          <a:p>
            <a:pPr>
              <a:spcAft>
                <a:spcPts val="1000"/>
              </a:spcAft>
              <a:defRPr sz="1900">
                <a:solidFill>
                  <a:srgbClr val="1F232A"/>
                </a:solidFill>
              </a:defRPr>
            </a:pPr>
            <a:r>
              <a:t>Период эксперимента: 3 недели.</a:t>
            </a:r>
          </a:p>
          <a:p>
            <a:pPr>
              <a:spcAft>
                <a:spcPts val="1000"/>
              </a:spcAft>
              <a:defRPr sz="1900">
                <a:solidFill>
                  <a:srgbClr val="1F232A"/>
                </a:solidFill>
              </a:defRPr>
            </a:pPr>
            <a:r>
              <a:t>Основные KPI: D7 Retention, D14 Retention и прогресс прохождения курса.</a:t>
            </a:r>
          </a:p>
          <a:p>
            <a:pPr>
              <a:spcAft>
                <a:spcPts val="1000"/>
              </a:spcAft>
              <a:defRPr sz="1900">
                <a:solidFill>
                  <a:srgbClr val="1F232A"/>
                </a:solidFill>
              </a:defRPr>
            </a:pPr>
            <a:r>
              <a:t>Дополнительно: число решённых ДЗ и Time to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828800"/>
            <a:ext cx="3749039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305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0" y="1920240"/>
            <a:ext cx="3474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32A"/>
                </a:solidFill>
              </a:defRPr>
            </a:pPr>
            <a:r>
              <a:rPr dirty="0" err="1"/>
              <a:t>Бизнес-вопрос</a:t>
            </a:r>
            <a:br>
              <a:rPr dirty="0"/>
            </a:br>
            <a:r>
              <a:rPr dirty="0" err="1"/>
              <a:t>Фича</a:t>
            </a:r>
            <a:r>
              <a:rPr dirty="0"/>
              <a:t> </a:t>
            </a:r>
            <a:r>
              <a:rPr dirty="0" err="1"/>
              <a:t>улучшает</a:t>
            </a:r>
            <a:r>
              <a:rPr dirty="0"/>
              <a:t> </a:t>
            </a:r>
            <a:r>
              <a:rPr dirty="0" err="1"/>
              <a:t>обучение</a:t>
            </a:r>
            <a:r>
              <a:rPr dirty="0"/>
              <a:t> — и </a:t>
            </a:r>
            <a:r>
              <a:rPr dirty="0" err="1"/>
              <a:t>одинаково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всех?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3749039"/>
            <a:ext cx="3749039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AA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59" y="4012056"/>
            <a:ext cx="36118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32A"/>
                </a:solidFill>
              </a:defRPr>
            </a:pPr>
            <a:r>
              <a:rPr dirty="0" err="1"/>
              <a:t>Ключевой</a:t>
            </a:r>
            <a:r>
              <a:rPr dirty="0"/>
              <a:t> </a:t>
            </a:r>
            <a:r>
              <a:rPr dirty="0" err="1"/>
              <a:t>риск</a:t>
            </a:r>
            <a:br>
              <a:rPr dirty="0"/>
            </a:br>
            <a:r>
              <a:rPr dirty="0" err="1"/>
              <a:t>Средний</a:t>
            </a:r>
            <a:r>
              <a:rPr dirty="0"/>
              <a:t> </a:t>
            </a:r>
            <a:r>
              <a:rPr dirty="0" err="1"/>
              <a:t>эффект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скрывать</a:t>
            </a:r>
            <a:r>
              <a:rPr dirty="0"/>
              <a:t> </a:t>
            </a:r>
            <a:r>
              <a:rPr dirty="0" err="1"/>
              <a:t>различия</a:t>
            </a:r>
            <a:r>
              <a:rPr dirty="0"/>
              <a:t> между </a:t>
            </a:r>
            <a:r>
              <a:rPr dirty="0" err="1"/>
              <a:t>классами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37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32A"/>
                </a:solidFill>
              </a:defRPr>
            </a:pPr>
            <a:r>
              <a:t>2. Качество данных и sanity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435607"/>
            <a:ext cx="2249424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056D3"/>
                </a:solidFill>
              </a:defRPr>
            </a:pPr>
            <a:r>
              <a:t>5 980</a:t>
            </a:r>
          </a:p>
          <a:p>
            <a:pPr algn="ctr">
              <a:defRPr sz="1100">
                <a:solidFill>
                  <a:srgbClr val="5C6370"/>
                </a:solidFill>
              </a:defRPr>
            </a:pPr>
            <a:r>
              <a:t>уникальных пользователей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2588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84448" y="1435607"/>
            <a:ext cx="2249424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8053"/>
                </a:solidFill>
              </a:defRPr>
            </a:pPr>
            <a:r>
              <a:t>0</a:t>
            </a:r>
          </a:p>
          <a:p>
            <a:pPr algn="ctr">
              <a:defRPr sz="1100">
                <a:solidFill>
                  <a:srgbClr val="5C6370"/>
                </a:solidFill>
              </a:defRPr>
            </a:pPr>
            <a:r>
              <a:t>пересечений A/B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27648" y="1435607"/>
            <a:ext cx="2249424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8053"/>
                </a:solidFill>
              </a:defRPr>
            </a:pPr>
            <a:r>
              <a:t>p = 0.959</a:t>
            </a:r>
          </a:p>
          <a:p>
            <a:pPr algn="ctr">
              <a:defRPr sz="1100">
                <a:solidFill>
                  <a:srgbClr val="5C6370"/>
                </a:solidFill>
              </a:defRPr>
            </a:pPr>
            <a:r>
              <a:t>SRM χ²-тест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2588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70848" y="1435607"/>
            <a:ext cx="2249424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8053"/>
                </a:solidFill>
              </a:defRPr>
            </a:pPr>
            <a:r>
              <a:t>p = 0.237</a:t>
            </a:r>
          </a:p>
          <a:p>
            <a:pPr algn="ctr">
              <a:defRPr sz="1100">
                <a:solidFill>
                  <a:srgbClr val="5C6370"/>
                </a:solidFill>
              </a:defRPr>
            </a:pPr>
            <a:r>
              <a:t>SRM по классам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98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32A"/>
                </a:solidFill>
              </a:defRPr>
            </a:pPr>
            <a:r>
              <a:t>В таблице распределения обнаружены 8 пользователей, одновременно попавших в A и B; они исключены.</a:t>
            </a:r>
          </a:p>
          <a:p>
            <a:pPr>
              <a:spcAft>
                <a:spcPts val="1000"/>
              </a:spcAft>
              <a:defRPr sz="1700">
                <a:solidFill>
                  <a:srgbClr val="1F232A"/>
                </a:solidFill>
              </a:defRPr>
            </a:pPr>
            <a:r>
              <a:t>После очистки: A = 2 992, B = 2 988 — практически идеальный сплит.</a:t>
            </a:r>
          </a:p>
          <a:p>
            <a:pPr>
              <a:spcAft>
                <a:spcPts val="1000"/>
              </a:spcAft>
              <a:defRPr sz="1700">
                <a:solidFill>
                  <a:srgbClr val="1F232A"/>
                </a:solidFill>
              </a:defRPr>
            </a:pPr>
            <a:r>
              <a:t>Также обработаны аномальные пользователи/боты и дубликаты согласно логике ноутбука.</a:t>
            </a:r>
          </a:p>
          <a:p>
            <a:pPr>
              <a:spcAft>
                <a:spcPts val="1000"/>
              </a:spcAft>
              <a:defRPr sz="1700">
                <a:solidFill>
                  <a:srgbClr val="1F232A"/>
                </a:solidFill>
              </a:defRPr>
            </a:pPr>
            <a:r>
              <a:t>Итоговая аналитическая выборка: 5 980 пользователей.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37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32A"/>
                </a:solidFill>
              </a:defRPr>
            </a:pPr>
            <a:r>
              <a:t>3. Воронка: геймификация увеличивает глубину прохождения</a:t>
            </a:r>
          </a:p>
        </p:txBody>
      </p:sp>
      <p:pic>
        <p:nvPicPr>
          <p:cNvPr id="4" name="Picture 3" descr="v2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7498079" cy="38856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508760"/>
            <a:ext cx="3154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305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66760" y="1600200"/>
            <a:ext cx="28803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32A"/>
                </a:solidFill>
              </a:defRPr>
            </a:pPr>
            <a:r>
              <a:t>≥25% курса</a:t>
            </a:r>
            <a:br/>
            <a:r>
              <a:t>31.2% → 58.7%</a:t>
            </a:r>
            <a:br/>
            <a:r>
              <a:t>+27.5 п.п.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337560"/>
            <a:ext cx="31546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305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3429000"/>
            <a:ext cx="28803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32A"/>
                </a:solidFill>
              </a:defRPr>
            </a:pPr>
            <a:r>
              <a:t>≥50% курса</a:t>
            </a:r>
            <a:br/>
            <a:r>
              <a:t>0.7% → 8.4%</a:t>
            </a:r>
            <a:br/>
            <a:r>
              <a:t>+7.8 п.п.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5166360"/>
            <a:ext cx="3154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AA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6760" y="5257800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32A"/>
                </a:solidFill>
              </a:defRPr>
            </a:pPr>
            <a:r>
              <a:t>Первое ДЗ</a:t>
            </a:r>
            <a:br/>
            <a:r>
              <a:t>97.6% → 98.8%</a:t>
            </a:r>
            <a:br/>
            <a:r>
              <a:t>разница небольшая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37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32A"/>
                </a:solidFill>
              </a:defRPr>
            </a:pPr>
            <a:r>
              <a:t>4. Общий эффект: метрики растут</a:t>
            </a:r>
          </a:p>
        </p:txBody>
      </p:sp>
      <p:pic>
        <p:nvPicPr>
          <p:cNvPr id="4" name="Picture 3" descr="v2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1752600"/>
            <a:ext cx="6371116" cy="3352800"/>
          </a:xfrm>
          <a:prstGeom prst="rect">
            <a:avLst/>
          </a:prstGeom>
        </p:spPr>
      </p:pic>
      <p:pic>
        <p:nvPicPr>
          <p:cNvPr id="5" name="Picture 4" descr="v2_eff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963" y="2422144"/>
            <a:ext cx="5448237" cy="26832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37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32A"/>
                </a:solidFill>
              </a:defRPr>
            </a:pPr>
            <a:r>
              <a:t>5. Статистическая проверка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C6370"/>
                </a:solidFill>
              </a:defRPr>
            </a:pPr>
            <a:r>
              <a:t>Метрика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3258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C6370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258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C6370"/>
                </a:solidFill>
              </a:defRPr>
            </a:pPr>
            <a: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32588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C6370"/>
                </a:solidFill>
              </a:defRPr>
            </a:pPr>
            <a:r>
              <a:t>B−A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3258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C6370"/>
                </a:solidFill>
              </a:defRPr>
            </a:pPr>
            <a:r>
              <a:t>95% 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F232A"/>
                </a:solidFill>
              </a:defRPr>
            </a:pPr>
            <a:r>
              <a:t>D7 Retention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7830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F232A"/>
                </a:solidFill>
              </a:defRPr>
            </a:pPr>
            <a:r>
              <a:t>72.7%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830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F232A"/>
                </a:solidFill>
              </a:defRPr>
            </a:pPr>
            <a:r>
              <a:t>78.0%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783080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A8053"/>
                </a:solidFill>
              </a:defRPr>
            </a:pPr>
            <a:r>
              <a:t>+5.3 п.п.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1783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F232A"/>
                </a:solidFill>
              </a:defRPr>
            </a:pPr>
            <a:r>
              <a:t>95% CI [+3.1; +7.5]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688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F232A"/>
                </a:solidFill>
              </a:defRPr>
            </a:pPr>
            <a:r>
              <a:t>D14 Retention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4688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F232A"/>
                </a:solidFill>
              </a:defRPr>
            </a:pPr>
            <a:r>
              <a:t>28.8%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4688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F232A"/>
                </a:solidFill>
              </a:defRPr>
            </a:pPr>
            <a:r>
              <a:t>36.2%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468880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A8053"/>
                </a:solidFill>
              </a:defRPr>
            </a:pPr>
            <a:r>
              <a:t>+7.4 п.п.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4688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F232A"/>
                </a:solidFill>
              </a:defRPr>
            </a:pPr>
            <a:r>
              <a:t>95% CI [+5.1; +9.8]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1546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F232A"/>
                </a:solidFill>
              </a:defRPr>
            </a:pPr>
            <a:r>
              <a:t>Completion ≥25%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1546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F232A"/>
                </a:solidFill>
              </a:defRPr>
            </a:pPr>
            <a:r>
              <a:t>31.2%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1546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F232A"/>
                </a:solidFill>
              </a:defRPr>
            </a:pPr>
            <a:r>
              <a:t>58.7%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154680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A8053"/>
                </a:solidFill>
              </a:defRPr>
            </a:pPr>
            <a:r>
              <a:t>+27.5 п.п.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1546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F232A"/>
                </a:solidFill>
              </a:defRPr>
            </a:pPr>
            <a:r>
              <a:t>95% CI [+25.0; +29.9]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404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F232A"/>
                </a:solidFill>
              </a:defRPr>
            </a:pPr>
            <a:r>
              <a:t>Completion ≥50%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F232A"/>
                </a:solidFill>
              </a:defRPr>
            </a:pPr>
            <a:r>
              <a:t>0.7%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F232A"/>
                </a:solidFill>
              </a:defRPr>
            </a:pPr>
            <a:r>
              <a:t>8.4%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840480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A8053"/>
                </a:solidFill>
              </a:defRPr>
            </a:pPr>
            <a:r>
              <a:t>+7.8 п.п.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8404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F232A"/>
                </a:solidFill>
              </a:defRPr>
            </a:pPr>
            <a:r>
              <a:t>95% CI [+6.8; +8.8]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480560"/>
            <a:ext cx="10607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05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4572000"/>
            <a:ext cx="101916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232A"/>
                </a:solidFill>
              </a:defRPr>
            </a:pPr>
            <a:r>
              <a:rPr dirty="0"/>
              <a:t>Для </a:t>
            </a:r>
            <a:r>
              <a:rPr dirty="0" err="1"/>
              <a:t>непрерывных</a:t>
            </a:r>
            <a:r>
              <a:rPr dirty="0"/>
              <a:t> </a:t>
            </a:r>
            <a:r>
              <a:rPr dirty="0" err="1"/>
              <a:t>метрик</a:t>
            </a:r>
            <a:r>
              <a:rPr dirty="0"/>
              <a:t> </a:t>
            </a:r>
            <a:r>
              <a:rPr dirty="0" err="1"/>
              <a:t>использован</a:t>
            </a:r>
            <a:r>
              <a:rPr dirty="0"/>
              <a:t> Mann–Whitney;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интервалов</a:t>
            </a:r>
            <a:r>
              <a:rPr dirty="0"/>
              <a:t> — bootstrap. </a:t>
            </a:r>
            <a:r>
              <a:rPr dirty="0" err="1"/>
              <a:t>Полученные</a:t>
            </a:r>
            <a:r>
              <a:rPr dirty="0"/>
              <a:t> </a:t>
            </a:r>
            <a:r>
              <a:rPr dirty="0" err="1"/>
              <a:t>интервалы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ключевых</a:t>
            </a:r>
            <a:r>
              <a:rPr dirty="0"/>
              <a:t> </a:t>
            </a:r>
            <a:r>
              <a:rPr dirty="0" err="1"/>
              <a:t>эффектов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пересекают</a:t>
            </a:r>
            <a:r>
              <a:rPr dirty="0"/>
              <a:t> 0.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4864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F232A"/>
                </a:solidFill>
              </a:defRPr>
            </a:pPr>
            <a:r>
              <a:t>Completion ratio: 19.9% → 28.2%, Δ = +8.3 п.п.; 95% bootstrap CI [+7.7; +8.9].</a:t>
            </a:r>
          </a:p>
          <a:p>
            <a:pPr>
              <a:spcAft>
                <a:spcPts val="1000"/>
              </a:spcAft>
              <a:defRPr sz="1200">
                <a:solidFill>
                  <a:srgbClr val="1F232A"/>
                </a:solidFill>
              </a:defRPr>
            </a:pPr>
            <a:r>
              <a:t>Среднее число решённых ДЗ: 3.58 → 5.11, Δ = +1.53.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37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32A"/>
                </a:solidFill>
              </a:defRPr>
            </a:pPr>
            <a:r>
              <a:t>6. Time to Value: первое ценное действие происходит быстрее</a:t>
            </a:r>
          </a:p>
        </p:txBody>
      </p:sp>
      <p:pic>
        <p:nvPicPr>
          <p:cNvPr id="4" name="Picture 3" descr="v2_tt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217920" cy="34289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0" y="1417320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24927" y="1527048"/>
            <a:ext cx="3438144" cy="923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8053"/>
                </a:solidFill>
              </a:defRPr>
            </a:pPr>
            <a:r>
              <a:t>2 899 → 1 410</a:t>
            </a:r>
          </a:p>
          <a:p>
            <a:pPr algn="ctr">
              <a:defRPr sz="1100">
                <a:solidFill>
                  <a:srgbClr val="5C6370"/>
                </a:solidFill>
              </a:defRPr>
            </a:pPr>
            <a:r>
              <a:t>медиана TTV, минут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880360"/>
            <a:ext cx="3657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52360" y="2971800"/>
            <a:ext cx="33832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F232A"/>
                </a:solidFill>
              </a:defRPr>
            </a:pPr>
            <a:r>
              <a:t>−1 489 мин</a:t>
            </a:r>
            <a:br/>
            <a:r>
              <a:t>≈ −51% к медиане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526280"/>
            <a:ext cx="3657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F232A"/>
                </a:solidFill>
              </a:defRPr>
            </a:pPr>
            <a:r>
              <a:rPr dirty="0"/>
              <a:t>Mann–Whitney p = 1.50×10⁻²³.</a:t>
            </a:r>
          </a:p>
          <a:p>
            <a:pPr>
              <a:spcAft>
                <a:spcPts val="1000"/>
              </a:spcAft>
              <a:defRPr sz="1200">
                <a:solidFill>
                  <a:srgbClr val="1F232A"/>
                </a:solidFill>
              </a:defRPr>
            </a:pPr>
            <a:r>
              <a:rPr dirty="0"/>
              <a:t>95% bootstrap CI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разницы</a:t>
            </a:r>
            <a:r>
              <a:rPr dirty="0"/>
              <a:t> </a:t>
            </a:r>
            <a:r>
              <a:rPr dirty="0" err="1"/>
              <a:t>медиан</a:t>
            </a:r>
            <a:r>
              <a:rPr dirty="0"/>
              <a:t>: [−1600; −1370] </a:t>
            </a:r>
            <a:r>
              <a:rPr dirty="0" err="1"/>
              <a:t>мин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200">
                <a:solidFill>
                  <a:srgbClr val="1F232A"/>
                </a:solidFill>
              </a:defRPr>
            </a:pPr>
            <a:r>
              <a:rPr dirty="0" err="1"/>
              <a:t>Метрика</a:t>
            </a:r>
            <a:r>
              <a:rPr dirty="0"/>
              <a:t> </a:t>
            </a:r>
            <a:r>
              <a:rPr dirty="0" err="1"/>
              <a:t>рассчитана</a:t>
            </a:r>
            <a:r>
              <a:rPr dirty="0"/>
              <a:t> </a:t>
            </a:r>
            <a:r>
              <a:rPr dirty="0" err="1"/>
              <a:t>среди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 с </a:t>
            </a:r>
            <a:r>
              <a:rPr dirty="0" err="1"/>
              <a:t>зафиксированными</a:t>
            </a:r>
            <a:r>
              <a:rPr dirty="0"/>
              <a:t> </a:t>
            </a:r>
            <a:r>
              <a:rPr dirty="0" err="1"/>
              <a:t>стартом</a:t>
            </a:r>
            <a:r>
              <a:rPr dirty="0"/>
              <a:t> и </a:t>
            </a:r>
            <a:r>
              <a:rPr dirty="0" err="1"/>
              <a:t>первым</a:t>
            </a:r>
            <a:r>
              <a:rPr dirty="0"/>
              <a:t> </a:t>
            </a:r>
            <a:r>
              <a:rPr dirty="0" err="1"/>
              <a:t>завершением</a:t>
            </a:r>
            <a:r>
              <a:rPr dirty="0"/>
              <a:t> ДЗ.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37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32A"/>
                </a:solidFill>
              </a:defRPr>
            </a:pPr>
            <a:r>
              <a:t>7. Главный инсайт: эффект зависит от класса</a:t>
            </a:r>
          </a:p>
        </p:txBody>
      </p:sp>
      <p:pic>
        <p:nvPicPr>
          <p:cNvPr id="4" name="Picture 3" descr="v2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7543800" cy="38825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83879" y="1417320"/>
            <a:ext cx="3246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32A"/>
                </a:solidFill>
              </a:defRPr>
            </a:pPr>
            <a:r>
              <a:t>5–7 классы: сильный положительный эффект.</a:t>
            </a:r>
          </a:p>
          <a:p>
            <a:pPr>
              <a:spcAft>
                <a:spcPts val="1000"/>
              </a:spcAft>
              <a:defRPr sz="1500">
                <a:solidFill>
                  <a:srgbClr val="1F232A"/>
                </a:solidFill>
              </a:defRPr>
            </a:pPr>
            <a:r>
              <a:t>8–9 классы: положительный эффект.</a:t>
            </a:r>
          </a:p>
          <a:p>
            <a:pPr>
              <a:spcAft>
                <a:spcPts val="1000"/>
              </a:spcAft>
              <a:defRPr sz="1500">
                <a:solidFill>
                  <a:srgbClr val="1F232A"/>
                </a:solidFill>
              </a:defRPr>
            </a:pPr>
            <a:r>
              <a:t>10–11 классы: отрицательный эффект по всем трём показателям.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37947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05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0" y="3886200"/>
            <a:ext cx="31089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232A"/>
                </a:solidFill>
              </a:defRPr>
            </a:pPr>
            <a:r>
              <a:rPr dirty="0" err="1"/>
              <a:t>Взаимодействие</a:t>
            </a:r>
            <a:r>
              <a:rPr dirty="0"/>
              <a:t> group × grade </a:t>
            </a:r>
            <a:r>
              <a:rPr dirty="0" err="1"/>
              <a:t>статистически</a:t>
            </a:r>
            <a:r>
              <a:rPr dirty="0"/>
              <a:t> </a:t>
            </a:r>
            <a:r>
              <a:rPr dirty="0" err="1"/>
              <a:t>значимо</a:t>
            </a:r>
            <a:br>
              <a:rPr dirty="0"/>
            </a:br>
            <a:r>
              <a:rPr dirty="0"/>
              <a:t>D7: p = 1.99×10⁻⁷</a:t>
            </a:r>
            <a:br>
              <a:rPr dirty="0"/>
            </a:br>
            <a:r>
              <a:rPr dirty="0"/>
              <a:t>D14: p = 2.76×10⁻⁸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5486400"/>
            <a:ext cx="3383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AA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5577840"/>
            <a:ext cx="3108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32A"/>
                </a:solidFill>
              </a:defRPr>
            </a:pPr>
            <a:r>
              <a:t>Средний эффект нельзя переносить на каждый сегмент.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37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32A"/>
                </a:solidFill>
              </a:defRPr>
            </a:pPr>
            <a:r>
              <a:t>8. Мощность эксперимента и MDE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5760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32A"/>
                </a:solidFill>
              </a:defRPr>
            </a:pPr>
            <a:r>
              <a:t>~3 000 пользователей на группу.</a:t>
            </a:r>
          </a:p>
          <a:p>
            <a:pPr>
              <a:spcAft>
                <a:spcPts val="1000"/>
              </a:spcAft>
              <a:defRPr sz="1800">
                <a:solidFill>
                  <a:srgbClr val="1F232A"/>
                </a:solidFill>
              </a:defRPr>
            </a:pPr>
            <a:r>
              <a:t>При α = 0.05 и мощности 90% минимально обнаружимый эффект:</a:t>
            </a:r>
          </a:p>
          <a:p>
            <a:pPr>
              <a:spcAft>
                <a:spcPts val="1000"/>
              </a:spcAft>
              <a:defRPr sz="1800">
                <a:solidFill>
                  <a:srgbClr val="1F232A"/>
                </a:solidFill>
              </a:defRPr>
            </a:pPr>
            <a:r>
              <a:t>D7 Retention — 3.65 п.п.</a:t>
            </a:r>
          </a:p>
          <a:p>
            <a:pPr>
              <a:spcAft>
                <a:spcPts val="1000"/>
              </a:spcAft>
              <a:defRPr sz="1800">
                <a:solidFill>
                  <a:srgbClr val="1F232A"/>
                </a:solidFill>
              </a:defRPr>
            </a:pPr>
            <a:r>
              <a:t>D14 Retention — 3.87 п.п.</a:t>
            </a:r>
          </a:p>
          <a:p>
            <a:pPr>
              <a:spcAft>
                <a:spcPts val="1000"/>
              </a:spcAft>
              <a:defRPr sz="1800">
                <a:solidFill>
                  <a:srgbClr val="1F232A"/>
                </a:solidFill>
              </a:defRPr>
            </a:pPr>
            <a:r>
              <a:t>Completion ≥25% — 3.94 п.п.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1463040"/>
            <a:ext cx="1920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04888" y="1572768"/>
            <a:ext cx="1700784" cy="877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8053"/>
                </a:solidFill>
              </a:defRPr>
            </a:pPr>
            <a:r>
              <a:t>5.3 п.п.</a:t>
            </a:r>
          </a:p>
          <a:p>
            <a:pPr algn="ctr">
              <a:defRPr sz="1100">
                <a:solidFill>
                  <a:srgbClr val="5C6370"/>
                </a:solidFill>
              </a:defRPr>
            </a:pPr>
            <a:r>
              <a:t>наблюдаемый D7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463040"/>
            <a:ext cx="1920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53728" y="1572768"/>
            <a:ext cx="1700784" cy="877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8053"/>
                </a:solidFill>
              </a:defRPr>
            </a:pPr>
            <a:r>
              <a:t>7.4 п.п.</a:t>
            </a:r>
          </a:p>
          <a:p>
            <a:pPr algn="ctr">
              <a:defRPr sz="1100">
                <a:solidFill>
                  <a:srgbClr val="5C6370"/>
                </a:solidFill>
              </a:defRPr>
            </a:pPr>
            <a:r>
              <a:t>наблюдаемый D14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926080"/>
            <a:ext cx="24688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56448" y="3035808"/>
            <a:ext cx="2249424" cy="877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8053"/>
                </a:solidFill>
              </a:defRPr>
            </a:pPr>
            <a:r>
              <a:t>27.5 п.п.</a:t>
            </a:r>
          </a:p>
          <a:p>
            <a:pPr algn="ctr">
              <a:defRPr sz="1100">
                <a:solidFill>
                  <a:srgbClr val="5C6370"/>
                </a:solidFill>
              </a:defRPr>
            </a:pPr>
            <a:r>
              <a:t>наблюдаемый Completion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4480560"/>
            <a:ext cx="4114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78040" y="4572000"/>
            <a:ext cx="38404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232A"/>
                </a:solidFill>
              </a:defRPr>
            </a:pPr>
            <a:r>
              <a:rPr dirty="0" err="1"/>
              <a:t>Наблюдаемые</a:t>
            </a:r>
            <a:r>
              <a:rPr dirty="0"/>
              <a:t> </a:t>
            </a:r>
            <a:r>
              <a:rPr dirty="0" err="1"/>
              <a:t>общие</a:t>
            </a:r>
            <a:r>
              <a:rPr dirty="0"/>
              <a:t> </a:t>
            </a:r>
            <a:r>
              <a:rPr dirty="0" err="1"/>
              <a:t>эффекты</a:t>
            </a:r>
            <a:r>
              <a:rPr dirty="0"/>
              <a:t> </a:t>
            </a:r>
            <a:r>
              <a:rPr dirty="0" err="1"/>
              <a:t>существенно</a:t>
            </a:r>
            <a:r>
              <a:rPr dirty="0"/>
              <a:t> </a:t>
            </a:r>
            <a:r>
              <a:rPr dirty="0" err="1"/>
              <a:t>превышают</a:t>
            </a:r>
            <a:r>
              <a:rPr dirty="0"/>
              <a:t> MDE.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37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32A"/>
                </a:solidFill>
              </a:defRPr>
            </a:pPr>
            <a:r>
              <a:t>9. Бизнес-решение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AA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4241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F232A"/>
                </a:solidFill>
              </a:defRPr>
            </a:pPr>
            <a:r>
              <a:t>Не раскатывать одну и ту же механику на 100% пользователей без изменений.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32A"/>
                </a:solidFill>
              </a:defRPr>
            </a:pPr>
            <a:r>
              <a:t>5–9 классы: данные показывают положительное влияние на удержание и глубину прохождения.</a:t>
            </a:r>
          </a:p>
          <a:p>
            <a:pPr>
              <a:spcAft>
                <a:spcPts val="1000"/>
              </a:spcAft>
              <a:defRPr sz="1700">
                <a:solidFill>
                  <a:srgbClr val="1F232A"/>
                </a:solidFill>
              </a:defRPr>
            </a:pPr>
            <a:r>
              <a:t>10–11 классы: наблюдается обратный эффект — D7 −4.1 п.п., D14 −4.0 п.п., Completion ≥25% −15.8 п.п.</a:t>
            </a:r>
          </a:p>
          <a:p>
            <a:pPr>
              <a:spcAft>
                <a:spcPts val="1000"/>
              </a:spcAft>
              <a:defRPr sz="1700">
                <a:solidFill>
                  <a:srgbClr val="1F232A"/>
                </a:solidFill>
              </a:defRPr>
            </a:pPr>
            <a:r>
              <a:t>Следующий шаг: сохранить/масштабировать механику для 5–9 классов, а механику для старших классов отправить на доработку и отдельный эксперимент.</a:t>
            </a:r>
          </a:p>
          <a:p>
            <a:pPr>
              <a:spcAft>
                <a:spcPts val="1000"/>
              </a:spcAft>
              <a:defRPr sz="1700">
                <a:solidFill>
                  <a:srgbClr val="1F232A"/>
                </a:solidFill>
              </a:defRPr>
            </a:pPr>
            <a:r>
              <a:t>Для следующего теста заранее зафиксировать основной KPI, MDE, критерии остановки и сегменты анализа.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715000"/>
            <a:ext cx="103327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305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39" y="58064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F232A"/>
                </a:solidFill>
              </a:defRPr>
            </a:pPr>
            <a:r>
              <a:t>Оговорка: в исходной выборке «полное прохождение курса» практически не наблюдалось; поэтому основной показатель прогресса — milestone Completion ≥25%.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37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32A"/>
                </a:solidFill>
              </a:defRPr>
            </a:pPr>
            <a:r>
              <a:t>10. 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05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10424159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232A"/>
                </a:solidFill>
              </a:defRPr>
            </a:pPr>
            <a:r>
              <a:t>Геймификация даёт сильный, но неоднородный эффект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2532888"/>
            <a:ext cx="2249424" cy="969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8053"/>
                </a:solidFill>
              </a:defRPr>
            </a:pPr>
            <a:r>
              <a:t>+5.3 п.п.</a:t>
            </a:r>
          </a:p>
          <a:p>
            <a:pPr algn="ctr">
              <a:defRPr sz="1100">
                <a:solidFill>
                  <a:srgbClr val="5C6370"/>
                </a:solidFill>
              </a:defRPr>
            </a:pPr>
            <a:r>
              <a:t>D7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42316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38728" y="2532888"/>
            <a:ext cx="2249424" cy="969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8053"/>
                </a:solidFill>
              </a:defRPr>
            </a:pPr>
            <a:r>
              <a:t>+7.4 п.п.</a:t>
            </a:r>
          </a:p>
          <a:p>
            <a:pPr algn="ctr">
              <a:defRPr sz="1100">
                <a:solidFill>
                  <a:srgbClr val="5C6370"/>
                </a:solidFill>
              </a:defRPr>
            </a:pPr>
            <a:r>
              <a:t>D14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42316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36208" y="2532888"/>
            <a:ext cx="2249424" cy="969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8053"/>
                </a:solidFill>
              </a:defRPr>
            </a:pPr>
            <a:r>
              <a:t>+27.5 п.п.</a:t>
            </a:r>
          </a:p>
          <a:p>
            <a:pPr algn="ctr">
              <a:defRPr sz="1100">
                <a:solidFill>
                  <a:srgbClr val="5C6370"/>
                </a:solidFill>
              </a:defRPr>
            </a:pPr>
            <a:r>
              <a:t>Completion ≥25%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42316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33688" y="2532888"/>
            <a:ext cx="2249424" cy="969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BE4242"/>
                </a:solidFill>
              </a:defRPr>
            </a:pPr>
            <a:r>
              <a:t>−15.8 п.п.</a:t>
            </a:r>
          </a:p>
          <a:p>
            <a:pPr algn="ctr">
              <a:defRPr sz="1100">
                <a:solidFill>
                  <a:srgbClr val="5C6370"/>
                </a:solidFill>
              </a:defRPr>
            </a:pPr>
            <a:r>
              <a:t>Completion ≥25%, 10–11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32A"/>
                </a:solidFill>
              </a:defRPr>
            </a:pPr>
            <a:r>
              <a:t>Эксперимент прошёл sanity check: SRM не обнаружен, пересечений A/B после очистки нет.</a:t>
            </a:r>
          </a:p>
          <a:p>
            <a:pPr>
              <a:spcAft>
                <a:spcPts val="1000"/>
              </a:spcAft>
              <a:defRPr sz="1600">
                <a:solidFill>
                  <a:srgbClr val="1F232A"/>
                </a:solidFill>
              </a:defRPr>
            </a:pPr>
            <a:r>
              <a:t>Общий эффект статистически значим и практически велик.</a:t>
            </a:r>
          </a:p>
          <a:p>
            <a:pPr>
              <a:spcAft>
                <a:spcPts val="1000"/>
              </a:spcAft>
              <a:defRPr sz="1600">
                <a:solidFill>
                  <a:srgbClr val="1F232A"/>
                </a:solidFill>
              </a:defRPr>
            </a:pPr>
            <a:r>
              <a:t>Сегментация выявляет качественно разный результат по классам.</a:t>
            </a:r>
          </a:p>
          <a:p>
            <a:pPr>
              <a:spcAft>
                <a:spcPts val="1000"/>
              </a:spcAft>
              <a:defRPr sz="1600">
                <a:solidFill>
                  <a:srgbClr val="1F232A"/>
                </a:solidFill>
              </a:defRPr>
            </a:pPr>
            <a:r>
              <a:t>Решение должно быть сегментированным: не один rollout для всей аудитории.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37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854</Words>
  <Application>Microsoft Office PowerPoint</Application>
  <PresentationFormat>Широкоэкранный</PresentationFormat>
  <Paragraphs>123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vasilijkrukovskij2015@gmail.com</cp:lastModifiedBy>
  <cp:revision>4</cp:revision>
  <dcterms:created xsi:type="dcterms:W3CDTF">2013-01-27T09:14:16Z</dcterms:created>
  <dcterms:modified xsi:type="dcterms:W3CDTF">2026-10-02T20:51:11Z</dcterms:modified>
  <cp:category/>
</cp:coreProperties>
</file>